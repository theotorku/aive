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VISIBILITY AUDIT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customers ask AI who to call…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say your name?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0–100, evidence-backed score of whether ChatGPT, Claude, Gemini, and Perplexity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understand, recommend, and book your business.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ProPlan Solutions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Agent Business Index (ABI)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is becoming one answer — not ten links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customers are moving from Google's list to an AI assistant's single recommendation.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031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800M+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use ChatGPT — and they ask it for local recommendations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290320000" dist="483870000" dir="162000000000">
              <a:srgbClr val="1E2761">
                <a:alpha val="18000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21031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answer. AI assistants recommend a shortlist, often a single business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6387064000000" dist="6145149000000" dir="9720000000000000">
              <a:srgbClr val="1E2761">
                <a:alpha val="1800000000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21031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$70–$250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46520" y="3154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one HVAC lead — this channel is expensive to lose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businesses that win this channel are the ones AI can actually read.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reads your website differently than people 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can't read, it won't recommend. It doesn't guess — it picks the competitor it can verify.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208115712800000000" dist="78043392300000000" dir="583200000000000000000">
              <a:srgbClr val="1E2761">
                <a:alpha val="180000000000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671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476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service areas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2860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“Serving the greater metro area” means nothing to a machine answering “near me”.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78308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2.64306955256e+21" dist="991151082210000000000" dir="3.4992e+25">
              <a:srgbClr val="1E2761">
                <a:alpha val="1.8e+2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21671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23560" y="19476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or missing FAQs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23560" y="22860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 questions. If your site doesn't, someone else's does.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3.3566983317512e+25" dist="1.2587618744067e+25" dir="2.09952e+30">
              <a:srgbClr val="1E2761">
                <a:alpha val="1.8e+2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6301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4107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data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7490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schema.org markup, your services, hours, and reviews are invisible facts.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324612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4.2630068813240236e+29" dist="1.598627580496509e+29" dir="1.259712e+35">
              <a:srgbClr val="1E2761">
                <a:alpha val="1.7999999999999998e+3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6301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23560" y="34107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 booking paths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23560" y="37490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agent can't find the phone, form, or booking link, you're not actionable.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Business Index (ABI)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frozen, deterministic 0–100 instrument. Run it twice, get the same number. Every point is explainable.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0175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5.41401873928151e+33" dist="2.0302570272305663e+33" dir="7.558272e+39">
              <a:srgbClr val="1E2761">
                <a:alpha val="1.8e+3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0–100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77240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A–F, benchmarked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50+ real HVAC websites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840480" y="1783080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6.875803798887518e+37" dist="2.578426424582819e+37" dir="4.5349632000000006e+44">
              <a:srgbClr val="1E2761">
                <a:alpha val="1.8e+44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69080" y="183794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Understanding — 25%   </a:t>
            </a:r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AI tell what you do, and where?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840480" y="2404872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8.732270824587148e+41" dist="3.2746015592201804e+41" dir="2.72097792e+49">
              <a:srgbClr val="1E2761">
                <a:alpha val="1.8e+4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69080" y="245973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Retrieval — 25%   </a:t>
            </a:r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AI find answers on your site?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840480" y="3026664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.1089983947225678e+46" dist="4.158743980209629e+45" dir="1.6325867520000003e+54">
              <a:srgbClr val="1E2761">
                <a:alpha val="1.8e+54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69080" y="308152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— 20%   </a:t>
            </a:r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AI see reasons to trust you?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840480" y="3648456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.408427961297661e+50" dist="5.281604854866228e+49" dir="9.795520512000002e+58">
              <a:srgbClr val="1E2761">
                <a:alpha val="1.8000000000000001e+59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69080" y="370332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Readiness — 15%   </a:t>
            </a:r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agent contact or book you?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840480" y="4270248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.7887035108480297e+54" dist="6.70763816568011e+53" dir="5.877312307200001e+63">
              <a:srgbClr val="1E2761">
                <a:alpha val="1.8e+64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69080" y="432511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Authority — 15%   </a:t>
            </a:r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expertise machine-readable?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2.2716534587769977e+58" dist="8.518700470413739e+57" dir="3.526387384320001e+68">
              <a:srgbClr val="1E2761">
                <a:alpha val="1.8e+69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77340" y="1737360"/>
            <a:ext cx="548640" cy="54864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5" name="Text 3"/>
          <p:cNvSpPr/>
          <p:nvPr/>
        </p:nvSpPr>
        <p:spPr>
          <a:xfrm>
            <a:off x="157734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crawl your site like AI does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324612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page, FAQ, and contact path — JS-rendered, noise removed.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54680" y="2651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8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2.8849998926467873e+62" dist="1.081874959742545e+62" dir="2.1158324305920003e+73">
              <a:srgbClr val="1E2761">
                <a:alpha val="1.8000000000000002e+7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1980" y="1737360"/>
            <a:ext cx="548640" cy="54864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1" name="Text 9"/>
          <p:cNvSpPr/>
          <p:nvPr/>
        </p:nvSpPr>
        <p:spPr>
          <a:xfrm>
            <a:off x="441198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2514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score what AI can actually see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84448" y="324612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extraction of services, areas, trust signals, actions — each fact with evidence and confidence.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89320" y="2651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8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3.66394986366142e+66" dist="1.373981198873032e+66" dir="1.2694994583552002e+78">
              <a:srgbClr val="1E2761">
                <a:alpha val="1.8000000000000003e+7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46620" y="1737360"/>
            <a:ext cx="548640" cy="54864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7" name="Text 15"/>
          <p:cNvSpPr/>
          <p:nvPr/>
        </p:nvSpPr>
        <p:spPr>
          <a:xfrm>
            <a:off x="724662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2514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the fix list, ranked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19088" y="324612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findings your webmaster can execute. Re-audit proves the lift.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you: one URL. Turnaround: 48 hours.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get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4.653216326850003e+70" dist="1.7449561225687507e+70" dir="7.616996750131201e+82">
              <a:srgbClr val="1E2761">
                <a:alpha val="1.8000000000000004e+84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report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ABI score + grade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dimension scores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backed by evidence from your own site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fix list, ranked by impact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business profile — what AI “knows” about you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review call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5.909584735099504e+74" dist="2.2160942756623134e+74" dir="4.57019805007872e+87">
              <a:srgbClr val="1E2761">
                <a:alpha val="1.8000000000000005e+89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7492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FINDING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4920" y="1965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“Your site lists 9 services but never states a service area on any of them.”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74920" y="3017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“AC repair near Matthews, NC,” the AI can't confirm you serve it — so it recommends someone it can verify.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4920" y="3977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service-area block per page. ~1 afternoon.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benchmark — and a verified lift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7.50517261357637e+78" dist="2.814439730091138e+78" dir="2.742118830047232e+92">
              <a:srgbClr val="1E2761">
                <a:alpha val="1.8000000000000007e+94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HVAC AI Visibility Benchmark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2377440" y="2331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grade across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real HVAC websites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in 3 </a:t>
            </a:r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 or F — effectively invisible to AI assistants.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7490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9.53156921924199e+82" dist="3.574338457215745e+82" dir="1.6452712980283393e+97">
              <a:srgbClr val="1E2761">
                <a:alpha val="1.8000000000000008e+9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7492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fix engagement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74920" y="2103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pPr algn="ctr" indent="0" marL="0">
              <a:buNone/>
            </a:pPr>
            <a:r>
              <a:rPr lang="en-US" sz="3000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algn="ctr" indent="0" marL="0">
              <a:buNone/>
            </a:pPr>
            <a:r>
              <a:rPr lang="en-US" sz="44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074920" y="3108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lift in 30 days — schema, FAQs, and service-area fixes, verified by re-audit.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74920" y="3886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scoring — the before/after is the same instrument, not a vibe.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938528" cy="28803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.2105092908437327e+87" dist="4.539409840663996e+86" dir="9.871627788170037e+101">
              <a:srgbClr val="1E2761">
                <a:alpha val="1.800000000000001e+104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41732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Grade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2651760"/>
            <a:ext cx="1609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grade + your single biggest gap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70048" y="1188720"/>
            <a:ext cx="1938528" cy="2880360"/>
          </a:xfrm>
          <a:prstGeom prst="roundRect">
            <a:avLst>
              <a:gd name="adj" fmla="val 3774"/>
            </a:avLst>
          </a:prstGeom>
          <a:solidFill>
            <a:srgbClr val="1E276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.5373467993715405e+91" dist="5.765050497643275e+90" dir="5.9229766729020215e+106">
              <a:srgbClr val="1E2761">
                <a:alpha val="1.800000000000001e+109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07208" y="141732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Audit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07208" y="19202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$749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34640" y="2651760"/>
            <a:ext cx="1609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report, evidence, fix list, review call. Founding: $399 (first 10)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91456" y="1188720"/>
            <a:ext cx="1938528" cy="28803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.9524304352018566e+95" dist="7.321614132006959e+94" dir="3.553786003741213e+111">
              <a:srgbClr val="1E2761">
                <a:alpha val="1.800000000000001e+114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28616" y="141732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Fix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28616" y="19202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$2,500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956048" y="2651760"/>
            <a:ext cx="1609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implement the fixes and prove the lift with a 30-day re-audit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12864" y="1188720"/>
            <a:ext cx="1938528" cy="28803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2.4795866527063578e+99" dist="9.298449947648839e+98" dir="2.1322716022447277e+116">
              <a:srgbClr val="1E2761">
                <a:alpha val="1.800000000000001e+119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50024" y="141732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50024" y="19202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$299/mo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077456" y="2651760"/>
            <a:ext cx="1609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re-score, change alerts, quarterly human re-audit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3.149075048937074e+103" dist="1.1809031433514024e+103" dir="1.2793629613468366e+121">
              <a:srgbClr val="1E2761">
                <a:alpha val="1.800000000000001e+124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437083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Guarantee: </a:t>
            </a:r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audit doesn't surface at least 5 actionable findings, it's free. Audit fee credits toward Audit + Fix within 30 days.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— and not another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10896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85216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3.9993253121500844e+107" dist="1.499746992056281e+107" dir="7.67617776808102e+125">
              <a:srgbClr val="1E2761">
                <a:alpha val="1.800000000000001e+12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783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AI-mention monitors ($29–$699/mo)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0" y="169164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4F7FD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5.079143146430607e+111" dist="1.904678679911477e+111" dir="4.605706660848612e+130">
              <a:srgbClr val="1E2761">
                <a:alpha val="1.800000000000001e+13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783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 if you appeared in an AI answer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52160" y="16916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6.450511795966871e+115" dist="2.418941923487576e+115" dir="2.763423996509167e+135">
              <a:srgbClr val="1E2761">
                <a:alpha val="1.800000000000001e+139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89320" y="17830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why you don't — on your own site, with evidence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8.192149980877925e+119" dist="3.0720562428292216e+119" dir="1.6580543979055002e+140">
              <a:srgbClr val="1E2761">
                <a:alpha val="1.800000000000001e+144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8072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“AI readiness” graders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2715768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4F7FD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.0404030475714965e+124" dist="3.9015114283931116e+123" dir="9.948326387433002e+144">
              <a:srgbClr val="1E2761">
                <a:alpha val="1.8000000000000009e+149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37560" y="28072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technical checklist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52160" y="2715768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.3213118704158005e+128" dist="4.954919514059251e+127" dir="5.968995832459801e+149">
              <a:srgbClr val="1E2761">
                <a:alpha val="1.800000000000001e+154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89320" y="28072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crawl + extraction: a repeatable 0–100 instrument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39896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.6780660754280665e+132" dist="6.2927477828552495e+131" dir="3.581397499475881e+154">
              <a:srgbClr val="1E2761">
                <a:alpha val="1.800000000000001e+159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83133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AI-SEO agencies ($1.5k–$5k/mo)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0" y="3739896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4F7FD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2.1311439157936445e+136" dist="7.991789684226167e+135" dir="2.1488384996855287e+159">
              <a:srgbClr val="1E2761">
                <a:alpha val="1.800000000000001e+164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37560" y="383133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retainers, unverifiable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52160" y="3739896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2.7065527730579285e+140" dist="1.0149572898967231e+140" dir="1.2893030998113172e+164">
              <a:srgbClr val="1E2761">
                <a:alpha val="1.800000000000001e+169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89320" y="383133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price, fixed scope, before/after score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→ fix → re-audit → monitor: we grade it, fix it, and prove it with the same instrument.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what AI sees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your competitors do.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free AI Visibility Grade — it takes 60 seconds.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46120" y="356616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</p:sp>
      <p:sp>
        <p:nvSpPr>
          <p:cNvPr id="5" name="Text 3"/>
          <p:cNvSpPr/>
          <p:nvPr/>
        </p:nvSpPr>
        <p:spPr>
          <a:xfrm>
            <a:off x="3246120" y="3566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My Free Grade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ProPlan Solutions · theotorku1983@gmail.com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Visibility Audit</dc:title>
  <dc:subject>PptxGenJS Presentation</dc:subject>
  <dc:creator>ProPlan Solutions</dc:creator>
  <cp:lastModifiedBy>ProPlan Solutions</cp:lastModifiedBy>
  <cp:revision>1</cp:revision>
  <dcterms:created xsi:type="dcterms:W3CDTF">2026-07-06T07:26:34Z</dcterms:created>
  <dcterms:modified xsi:type="dcterms:W3CDTF">2026-07-06T07:26:34Z</dcterms:modified>
</cp:coreProperties>
</file>